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16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8F8F"/>
                </a:solidFill>
                <a:latin typeface="Calibri"/>
              </a:rPr>
              <a:t>INSIGHT 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0584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Your Clinic's
AI Front Desk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A simple chatbot that answers patient questions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262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appointments, insurance, and clinic info — 24 / 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2926080" cy="411480"/>
          </a:xfrm>
          <a:prstGeom prst="roundRect">
            <a:avLst>
              <a:gd name="adj" fmla="val 50000"/>
            </a:avLst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LIVE at clinic.callsphere.site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6F2F7"/>
                </a:solidFill>
                <a:latin typeface="Calibri"/>
              </a:rPr>
              <a:t>Prepared for the Insight Healthcare team   • 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F8F8F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Calibri"/>
              </a:rPr>
              <a:t>What the chatbot does for your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</a:rPr>
              <a:t>Three simple things, done well — and it politely declines anything else.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</a:rPr>
              <a:t>Insight Healthcare  •  AI Front Desk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1F8F8F"/>
                </a:solidFill>
                <a:latin typeface="Calibri"/>
              </a:rPr>
              <a:t>clinic.callsphere.site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361188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286000"/>
            <a:ext cx="777240" cy="777240"/>
          </a:xfrm>
          <a:prstGeom prst="ellipse">
            <a:avLst/>
          </a:prstGeom>
          <a:solidFill>
            <a:srgbClr val="C7E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0">
                <a:solidFill>
                  <a:srgbClr val="0F2A4A"/>
                </a:solidFill>
                <a:latin typeface="Calibri"/>
              </a:rPr>
              <a:t>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3063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F2A4A"/>
                </a:solidFill>
                <a:latin typeface="Calibri"/>
              </a:rPr>
              <a:t>Book a visit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94760"/>
            <a:ext cx="306324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A5A6A"/>
                </a:solidFill>
                <a:latin typeface="Calibri"/>
              </a:rPr>
              <a:t>Patients can see open slots and schedule, reschedule, or cancel —
in plain English, any time of 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011680"/>
            <a:ext cx="361188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7720" y="2286000"/>
            <a:ext cx="777240" cy="777240"/>
          </a:xfrm>
          <a:prstGeom prst="ellipse">
            <a:avLst/>
          </a:prstGeom>
          <a:solidFill>
            <a:srgbClr val="C7E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28600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0">
                <a:solidFill>
                  <a:srgbClr val="0F2A4A"/>
                </a:solidFill>
                <a:latin typeface="Calibri"/>
              </a:rPr>
              <a:t>🛡️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246120"/>
            <a:ext cx="3063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F2A4A"/>
                </a:solidFill>
                <a:latin typeface="Calibri"/>
              </a:rPr>
              <a:t>Check insurance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794760"/>
            <a:ext cx="306324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A5A6A"/>
                </a:solidFill>
                <a:latin typeface="Calibri"/>
              </a:rPr>
              <a:t>Answers "Do you take my plan?" and looks up sample member IDs
so patients know before they walk 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2011680"/>
            <a:ext cx="361188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58200" y="2286000"/>
            <a:ext cx="777240" cy="777240"/>
          </a:xfrm>
          <a:prstGeom prst="ellipse">
            <a:avLst/>
          </a:prstGeom>
          <a:solidFill>
            <a:srgbClr val="C7E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28600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0">
                <a:solidFill>
                  <a:srgbClr val="0F2A4A"/>
                </a:solidFill>
                <a:latin typeface="Calibri"/>
              </a:rP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246120"/>
            <a:ext cx="3063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F2A4A"/>
                </a:solidFill>
                <a:latin typeface="Calibri"/>
              </a:rPr>
              <a:t>Answer clinic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794760"/>
            <a:ext cx="306324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A5A6A"/>
                </a:solidFill>
                <a:latin typeface="Calibri"/>
              </a:rPr>
              <a:t>Hours, location, services, parking, what to bring on the first
visit — all from your own clinic info.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86400"/>
            <a:ext cx="1120140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321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F2A4A"/>
                </a:solidFill>
                <a:latin typeface="Calibri"/>
              </a:rPr>
              <a:t>🔒  Privacy by design: we record which topic was asked, never the message 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F8F8F"/>
                </a:solidFill>
                <a:latin typeface="Calibri"/>
              </a:rPr>
              <a:t>PATIENT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Calibri"/>
              </a:rPr>
              <a:t>How a patient uses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</a:rPr>
              <a:t>From question to answer in seconds — no app to download, no login.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</a:rPr>
              <a:t>Insight Healthcare  •  AI Front Desk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1F8F8F"/>
                </a:solidFill>
                <a:latin typeface="Calibri"/>
              </a:rPr>
              <a:t>clinic.callsphere.site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867" y="2194560"/>
            <a:ext cx="2468880" cy="2194560"/>
          </a:xfrm>
          <a:prstGeom prst="roundRect">
            <a:avLst/>
          </a:prstGeom>
          <a:solidFill>
            <a:srgbClr val="E6F2F7"/>
          </a:solidFill>
          <a:ln w="9525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867" y="242316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0">
                <a:solidFill>
                  <a:srgbClr val="0F2A4A"/>
                </a:solidFill>
                <a:latin typeface="Calibri"/>
              </a:rP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867" y="306324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F2A4A"/>
                </a:solidFill>
                <a:latin typeface="Calibri"/>
              </a:rPr>
              <a:t>1. Patient visits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027" y="342900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A5A6A"/>
                </a:solidFill>
                <a:latin typeface="Calibri"/>
              </a:rPr>
              <a:t>clinic.callsphere.site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29747.5" y="3291840.0"/>
            <a:ext cx="371480.0" cy="0.0"/>
          </a:xfrm>
          <a:prstGeom prst="line">
            <a:avLst/>
          </a:prstGeom>
          <a:ln w="31750">
            <a:solidFill>
              <a:srgbClr val="1F8F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21227" y="2194560"/>
            <a:ext cx="2468880" cy="2194560"/>
          </a:xfrm>
          <a:prstGeom prst="roundRect">
            <a:avLst/>
          </a:prstGeom>
          <a:solidFill>
            <a:srgbClr val="E6F2F7"/>
          </a:solidFill>
          <a:ln w="9525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1227" y="242316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0">
                <a:solidFill>
                  <a:srgbClr val="0F2A4A"/>
                </a:solidFill>
                <a:latin typeface="Calibri"/>
              </a:rPr>
              <a:t>⌨️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1227" y="306324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F2A4A"/>
                </a:solidFill>
                <a:latin typeface="Calibri"/>
              </a:rPr>
              <a:t>2. Types a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8387" y="342900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A5A6A"/>
                </a:solidFill>
                <a:latin typeface="Calibri"/>
              </a:rPr>
              <a:t>"Can I book a physical
Thursday morning?"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10107.5" y="3291840.0"/>
            <a:ext cx="371480.0" cy="0.0"/>
          </a:xfrm>
          <a:prstGeom prst="line">
            <a:avLst/>
          </a:prstGeom>
          <a:ln w="31750">
            <a:solidFill>
              <a:srgbClr val="1F8F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01587" y="2194560"/>
            <a:ext cx="2468880" cy="2194560"/>
          </a:xfrm>
          <a:prstGeom prst="roundRect">
            <a:avLst/>
          </a:prstGeom>
          <a:solidFill>
            <a:srgbClr val="E6F2F7"/>
          </a:solidFill>
          <a:ln w="9525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1587" y="242316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0">
                <a:solidFill>
                  <a:srgbClr val="0F2A4A"/>
                </a:solidFill>
                <a:latin typeface="Calibri"/>
              </a:rP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1587" y="306324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F2A4A"/>
                </a:solidFill>
                <a:latin typeface="Calibri"/>
              </a:rPr>
              <a:t>3. AI understands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8747" y="342900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A5A6A"/>
                </a:solidFill>
                <a:latin typeface="Calibri"/>
              </a:rPr>
              <a:t>Figures out the topic
and finds the answer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90467.5" y="3291840.0"/>
            <a:ext cx="371480.0" cy="0.0"/>
          </a:xfrm>
          <a:prstGeom prst="line">
            <a:avLst/>
          </a:prstGeom>
          <a:ln w="31750">
            <a:solidFill>
              <a:srgbClr val="1F8F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1947" y="2194560"/>
            <a:ext cx="2468880" cy="2194560"/>
          </a:xfrm>
          <a:prstGeom prst="roundRect">
            <a:avLst/>
          </a:prstGeom>
          <a:solidFill>
            <a:srgbClr val="E6F2F7"/>
          </a:solidFill>
          <a:ln w="9525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1947" y="242316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0">
                <a:solidFill>
                  <a:srgbClr val="0F2A4A"/>
                </a:solidFill>
                <a:latin typeface="Calibri"/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1947" y="306324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F2A4A"/>
                </a:solidFill>
                <a:latin typeface="Calibri"/>
              </a:rPr>
              <a:t>4. Gets a reply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9107" y="342900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A5A6A"/>
                </a:solidFill>
                <a:latin typeface="Calibri"/>
              </a:rPr>
              <a:t>Friendly, accurate,
in plain English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937760"/>
            <a:ext cx="11201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Why patients like it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5468112"/>
            <a:ext cx="164592" cy="164592"/>
          </a:xfrm>
          <a:prstGeom prst="ellipse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3949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A5A6A"/>
                </a:solidFill>
                <a:latin typeface="Calibri"/>
              </a:rPr>
              <a:t>Available 24 / 7 — even after the front desk closes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" y="5879592"/>
            <a:ext cx="164592" cy="164592"/>
          </a:xfrm>
          <a:prstGeom prst="ellipse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8064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A5A6A"/>
                </a:solidFill>
                <a:latin typeface="Calibri"/>
              </a:rPr>
              <a:t>No phone hold music, no waiting on hold</a:t>
            </a:r>
          </a:p>
        </p:txBody>
      </p:sp>
      <p:sp>
        <p:nvSpPr>
          <p:cNvPr id="33" name="Oval 32"/>
          <p:cNvSpPr/>
          <p:nvPr/>
        </p:nvSpPr>
        <p:spPr>
          <a:xfrm>
            <a:off x="548640" y="6291072"/>
            <a:ext cx="164592" cy="164592"/>
          </a:xfrm>
          <a:prstGeom prst="ellipse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62179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4A5A6A"/>
                </a:solidFill>
                <a:latin typeface="Calibri"/>
              </a:rPr>
              <a:t>Same answer every time — nothing falls through the cracks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F8F8F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Calibri"/>
              </a:rPr>
              <a:t>Flowchart 1 — From patient to reply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</a:rPr>
              <a:t>A peek under the hood, kept simple. Every step is on equipment we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</a:rPr>
              <a:t>Insight Healthcare  •  AI Front Desk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1F8F8F"/>
                </a:solidFill>
                <a:latin typeface="Calibri"/>
              </a:rPr>
              <a:t>clinic.callsphere.site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645920" cy="1280160"/>
          </a:xfrm>
          <a:prstGeom prst="roundRect">
            <a:avLst>
              <a:gd name="adj" fmla="val 15000"/>
            </a:avLst>
          </a:prstGeom>
          <a:solidFill>
            <a:srgbClr val="E6F2F7"/>
          </a:solidFill>
          <a:ln w="19050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0F2A4A"/>
                </a:solidFill>
                <a:latin typeface="Calibri"/>
              </a:rPr>
              <a:t>Patient</a:t>
            </a:r>
          </a:p>
          <a:p>
            <a:pPr algn="ctr"/>
            <a:r>
              <a:rPr sz="1000">
                <a:solidFill>
                  <a:srgbClr val="4A5A6A"/>
                </a:solidFill>
                <a:latin typeface="Calibri"/>
              </a:rPr>
              <a:t>asks a question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3108960"/>
            <a:ext cx="2194560" cy="1280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0F2A4A"/>
                </a:solidFill>
                <a:latin typeface="Calibri"/>
              </a:rPr>
              <a:t>Clinic website</a:t>
            </a:r>
          </a:p>
          <a:p>
            <a:pPr algn="ctr"/>
            <a:r>
              <a:rPr sz="1000">
                <a:solidFill>
                  <a:srgbClr val="4A5A6A"/>
                </a:solidFill>
                <a:latin typeface="Calibri"/>
              </a:rPr>
              <a:t>clinic.callsphere.site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3108960"/>
            <a:ext cx="2194560" cy="1280160"/>
          </a:xfrm>
          <a:prstGeom prst="roundRect">
            <a:avLst>
              <a:gd name="adj" fmla="val 15000"/>
            </a:avLst>
          </a:prstGeom>
          <a:solidFill>
            <a:srgbClr val="C7E9D9"/>
          </a:solidFill>
          <a:ln w="19050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0F2A4A"/>
                </a:solidFill>
                <a:latin typeface="Calibri"/>
              </a:rPr>
              <a:t>AI assistant</a:t>
            </a:r>
          </a:p>
          <a:p>
            <a:pPr algn="ctr"/>
            <a:r>
              <a:rPr sz="1000">
                <a:solidFill>
                  <a:srgbClr val="4A5A6A"/>
                </a:solidFill>
                <a:latin typeface="Calibri"/>
              </a:rPr>
              <a:t>understands the
question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108960"/>
            <a:ext cx="2194560" cy="1280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0F2A4A"/>
                </a:solidFill>
                <a:latin typeface="Calibri"/>
              </a:rPr>
              <a:t>Clinic database</a:t>
            </a:r>
          </a:p>
          <a:p>
            <a:pPr algn="ctr"/>
            <a:r>
              <a:rPr sz="1000">
                <a:solidFill>
                  <a:srgbClr val="4A5A6A"/>
                </a:solidFill>
                <a:latin typeface="Calibri"/>
              </a:rPr>
              <a:t>appointments,
insurance, FAQs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0" y="3108960"/>
            <a:ext cx="1554480" cy="1280160"/>
          </a:xfrm>
          <a:prstGeom prst="roundRect">
            <a:avLst>
              <a:gd name="adj" fmla="val 15000"/>
            </a:avLst>
          </a:prstGeom>
          <a:solidFill>
            <a:srgbClr val="E6F2F7"/>
          </a:solidFill>
          <a:ln w="19050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0F2A4A"/>
                </a:solidFill>
                <a:latin typeface="Calibri"/>
              </a:rPr>
              <a:t>Reply</a:t>
            </a:r>
          </a:p>
          <a:p>
            <a:pPr algn="ctr"/>
            <a:r>
              <a:rPr sz="1000">
                <a:solidFill>
                  <a:srgbClr val="4A5A6A"/>
                </a:solidFill>
                <a:latin typeface="Calibri"/>
              </a:rPr>
              <a:t>shown to patient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96000" y="3703320.0"/>
            <a:ext cx="437200" cy="0.0"/>
          </a:xfrm>
          <a:prstGeom prst="line">
            <a:avLst/>
          </a:prstGeom>
          <a:ln w="31750">
            <a:solidFill>
              <a:srgbClr val="1F8F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47760" y="3703320.0"/>
            <a:ext cx="437200" cy="0.0"/>
          </a:xfrm>
          <a:prstGeom prst="line">
            <a:avLst/>
          </a:prstGeom>
          <a:ln w="31750">
            <a:solidFill>
              <a:srgbClr val="1F8F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99520" y="3703320.0"/>
            <a:ext cx="437200" cy="0.0"/>
          </a:xfrm>
          <a:prstGeom prst="line">
            <a:avLst/>
          </a:prstGeom>
          <a:ln w="31750">
            <a:solidFill>
              <a:srgbClr val="1F8F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0231280" y="3703320.0"/>
            <a:ext cx="20000" cy="0.0"/>
          </a:xfrm>
          <a:prstGeom prst="line">
            <a:avLst/>
          </a:prstGeom>
          <a:ln w="31750">
            <a:solidFill>
              <a:srgbClr val="1F8F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018520.0" y="4389120"/>
            <a:ext cx="0.0" cy="731520"/>
          </a:xfrm>
          <a:prstGeom prst="line">
            <a:avLst/>
          </a:prstGeom>
          <a:ln w="25400">
            <a:solidFill>
              <a:srgbClr val="E89B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463040.0" y="5120640"/>
            <a:ext cx="9555480.0" cy="0"/>
          </a:xfrm>
          <a:prstGeom prst="line">
            <a:avLst/>
          </a:prstGeom>
          <a:ln w="25400">
            <a:solidFill>
              <a:srgbClr val="E89B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63040.0" y="4399120"/>
            <a:ext cx="0.0" cy="721520"/>
          </a:xfrm>
          <a:prstGeom prst="line">
            <a:avLst/>
          </a:prstGeom>
          <a:ln w="25400">
            <a:solidFill>
              <a:srgbClr val="E89B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37760" y="51663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E89B3C"/>
                </a:solidFill>
                <a:latin typeface="Calibri"/>
              </a:rPr>
              <a:t>answer sent back to patient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715000"/>
            <a:ext cx="11201400" cy="548640"/>
          </a:xfrm>
          <a:prstGeom prst="roundRect">
            <a:avLst/>
          </a:prstGeom>
          <a:solidFill>
            <a:srgbClr val="E6F2F7"/>
          </a:solidFill>
          <a:ln w="9525"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760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0F2A4A"/>
                </a:solidFill>
                <a:latin typeface="Calibri"/>
              </a:rPr>
              <a:t>In plain terms: the patient's question travels to a smart helper, the helper looks up the right info, and a friendly reply comes 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F8F8F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Calibri"/>
              </a:rPr>
              <a:t>Flowchart 2 — Four specialists, one polite gatekeeper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</a:rPr>
              <a:t>The AI routes every question to a focused expert — or politely declines.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</a:rPr>
              <a:t>Insight Healthcare  •  AI Front Desk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1F8F8F"/>
                </a:solidFill>
                <a:latin typeface="Calibri"/>
              </a:rPr>
              <a:t>clinic.callsphere.site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691640"/>
            <a:ext cx="2286000" cy="685800"/>
          </a:xfrm>
          <a:prstGeom prst="roundRect">
            <a:avLst>
              <a:gd name="adj" fmla="val 15000"/>
            </a:avLst>
          </a:prstGeom>
          <a:solidFill>
            <a:srgbClr val="E6F2F7"/>
          </a:solidFill>
          <a:ln w="19050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0F2A4A"/>
                </a:solidFill>
                <a:latin typeface="Calibri"/>
              </a:rPr>
              <a:t>Patient question</a:t>
            </a:r>
          </a:p>
        </p:txBody>
      </p:sp>
      <p:sp>
        <p:nvSpPr>
          <p:cNvPr id="10" name="Hexagon 9"/>
          <p:cNvSpPr/>
          <p:nvPr/>
        </p:nvSpPr>
        <p:spPr>
          <a:xfrm>
            <a:off x="4572000" y="2697480"/>
            <a:ext cx="3017520" cy="1005840"/>
          </a:xfrm>
          <a:prstGeom prst="hexagon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Smart router</a:t>
            </a:r>
          </a:p>
          <a:p>
            <a:pPr algn="ctr"/>
            <a:r>
              <a:rPr sz="1000">
                <a:solidFill>
                  <a:srgbClr val="E6F2F7"/>
                </a:solidFill>
                <a:latin typeface="Calibri"/>
              </a:rPr>
              <a:t>What is this about?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2395728"/>
            <a:ext cx="0" cy="283464"/>
          </a:xfrm>
          <a:prstGeom prst="line">
            <a:avLst/>
          </a:prstGeom>
          <a:ln w="31750">
            <a:solidFill>
              <a:srgbClr val="1F8F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" y="4572000"/>
            <a:ext cx="2377440" cy="1280160"/>
          </a:xfrm>
          <a:prstGeom prst="roundRect">
            <a:avLst>
              <a:gd name="adj" fmla="val 15000"/>
            </a:avLst>
          </a:prstGeom>
          <a:solidFill>
            <a:srgbClr val="C7E9D9"/>
          </a:solidFill>
          <a:ln w="19050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0F2A4A"/>
                </a:solidFill>
                <a:latin typeface="Calibri"/>
              </a:rPr>
              <a:t>Appointments</a:t>
            </a:r>
          </a:p>
          <a:p>
            <a:pPr algn="ctr"/>
            <a:r>
              <a:rPr sz="1000">
                <a:solidFill>
                  <a:srgbClr val="4A5A6A"/>
                </a:solidFill>
                <a:latin typeface="Calibri"/>
              </a:rPr>
              <a:t>book, reschedule,
cancel visits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691640.0" y="3703320"/>
            <a:ext cx="4389120.0" cy="863680"/>
          </a:xfrm>
          <a:prstGeom prst="line">
            <a:avLst/>
          </a:prstGeom>
          <a:ln w="25400">
            <a:solidFill>
              <a:srgbClr val="1F8F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20440" y="4572000"/>
            <a:ext cx="2377440" cy="1280160"/>
          </a:xfrm>
          <a:prstGeom prst="roundRect">
            <a:avLst>
              <a:gd name="adj" fmla="val 15000"/>
            </a:avLst>
          </a:prstGeom>
          <a:solidFill>
            <a:srgbClr val="C7E9D9"/>
          </a:solidFill>
          <a:ln w="19050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0F2A4A"/>
                </a:solidFill>
                <a:latin typeface="Calibri"/>
              </a:rPr>
              <a:t>Insurance</a:t>
            </a:r>
          </a:p>
          <a:p>
            <a:pPr algn="ctr"/>
            <a:r>
              <a:rPr sz="1000">
                <a:solidFill>
                  <a:srgbClr val="4A5A6A"/>
                </a:solidFill>
                <a:latin typeface="Calibri"/>
              </a:rPr>
              <a:t>what plans you accept,
member coverage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4709160.0" y="3703320"/>
            <a:ext cx="1371600.0" cy="863680"/>
          </a:xfrm>
          <a:prstGeom prst="line">
            <a:avLst/>
          </a:prstGeom>
          <a:ln w="25400">
            <a:solidFill>
              <a:srgbClr val="1F8F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37960" y="4572000"/>
            <a:ext cx="2377440" cy="1280160"/>
          </a:xfrm>
          <a:prstGeom prst="roundRect">
            <a:avLst>
              <a:gd name="adj" fmla="val 15000"/>
            </a:avLst>
          </a:prstGeom>
          <a:solidFill>
            <a:srgbClr val="C7E9D9"/>
          </a:solidFill>
          <a:ln w="19050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0F2A4A"/>
                </a:solidFill>
                <a:latin typeface="Calibri"/>
              </a:rPr>
              <a:t>Clinic info</a:t>
            </a:r>
          </a:p>
          <a:p>
            <a:pPr algn="ctr"/>
            <a:r>
              <a:rPr sz="1000">
                <a:solidFill>
                  <a:srgbClr val="4A5A6A"/>
                </a:solidFill>
                <a:latin typeface="Calibri"/>
              </a:rPr>
              <a:t>hours, location,
services, FAQs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3703320"/>
            <a:ext cx="1645920.0" cy="863680"/>
          </a:xfrm>
          <a:prstGeom prst="line">
            <a:avLst/>
          </a:prstGeom>
          <a:ln w="25400">
            <a:solidFill>
              <a:srgbClr val="1F8F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55480" y="4572000"/>
            <a:ext cx="2377440" cy="1280160"/>
          </a:xfrm>
          <a:prstGeom prst="roundRect">
            <a:avLst>
              <a:gd name="adj" fmla="val 15000"/>
            </a:avLst>
          </a:prstGeom>
          <a:solidFill>
            <a:srgbClr val="F7D7D7"/>
          </a:solidFill>
          <a:ln w="19050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0F2A4A"/>
                </a:solidFill>
                <a:latin typeface="Calibri"/>
              </a:rPr>
              <a:t>Politely declines</a:t>
            </a:r>
          </a:p>
          <a:p>
            <a:pPr algn="ctr"/>
            <a:r>
              <a:rPr sz="1000">
                <a:solidFill>
                  <a:srgbClr val="4A5A6A"/>
                </a:solidFill>
                <a:latin typeface="Calibri"/>
              </a:rPr>
              <a:t>anything off-topic
(medical advice, etc.)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3703320"/>
            <a:ext cx="4663440.0" cy="863680"/>
          </a:xfrm>
          <a:prstGeom prst="line">
            <a:avLst/>
          </a:prstGeom>
          <a:ln w="25400">
            <a:solidFill>
              <a:srgbClr val="E89B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60807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4A5A6A"/>
                </a:solidFill>
                <a:latin typeface="Calibri"/>
              </a:rPr>
              <a:t>Each specialist only answers what it knows. Out-of-scope questions get a friendly redirect, never a wrong answer.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F8F8F"/>
                </a:solidFill>
                <a:latin typeface="Calibri"/>
              </a:rPr>
              <a:t>TRUST &amp;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Calibri"/>
              </a:rPr>
              <a:t>What we store — and what we don't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</a:rPr>
              <a:t>Designed for a healthcare context from day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</a:rPr>
              <a:t>Insight Healthcare  •  AI Front Desk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1F8F8F"/>
                </a:solidFill>
                <a:latin typeface="Calibri"/>
              </a:rPr>
              <a:t>clinic.callsphere.site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5394960" cy="4023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 DO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✓ Clinic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08960"/>
            <a:ext cx="4663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Calibri"/>
              </a:rPr>
              <a:t>Hours, address, services, accepted insurance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9476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✓ Appointment slots &amp; bookings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14800"/>
            <a:ext cx="4663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Calibri"/>
              </a:rPr>
              <a:t>When a visit is confirmed — name, email, reason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0060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✓ Anonymous usage stats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20640"/>
            <a:ext cx="4663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Calibri"/>
              </a:rPr>
              <a:t>Which topic was asked, response speed (no message text)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920240"/>
            <a:ext cx="5394960" cy="4023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21488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 DO NOT 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78892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✗ Chat message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108960"/>
            <a:ext cx="4663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Calibri"/>
              </a:rPr>
              <a:t>The actual words a patient types are never saved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79476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✗ Patient identity for browsing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114800"/>
            <a:ext cx="4663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Calibri"/>
              </a:rPr>
              <a:t>No login required — only booking captures contact info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80060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✗ Raw IP addresses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120640"/>
            <a:ext cx="4663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Calibri"/>
              </a:rPr>
              <a:t>Visitor counts use a one-way hashed identifier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6080760"/>
            <a:ext cx="11201400" cy="502920"/>
          </a:xfrm>
          <a:prstGeom prst="roundRect">
            <a:avLst/>
          </a:prstGeom>
          <a:solidFill>
            <a:srgbClr val="0F2A4A"/>
          </a:solidFill>
          <a:ln w="9525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6108192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The chatbot is helpful, but it stays in its lane — and it keeps patient conversations private by default.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F8F8F"/>
                </a:solidFill>
                <a:latin typeface="Calibri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Calibri"/>
              </a:rPr>
              <a:t>Live today — and easy to grow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</a:rPr>
              <a:t>Already running at clinic.callsphere.site, ready for real patient traffic.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</a:rPr>
              <a:t>Insight Healthcare  •  AI Front Desk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1F8F8F"/>
                </a:solidFill>
                <a:latin typeface="Calibri"/>
              </a:rPr>
              <a:t>clinic.callsphere.site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5486400" cy="2011680"/>
          </a:xfrm>
          <a:prstGeom prst="roundRect">
            <a:avLst/>
          </a:prstGeom>
          <a:solidFill>
            <a:srgbClr val="C7E9D9"/>
          </a:solidFill>
          <a:ln w="9525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8F8F"/>
                </a:solidFill>
                <a:latin typeface="Calibri"/>
              </a:rPr>
              <a:t>●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F2A4A"/>
                </a:solidFill>
                <a:latin typeface="Calibri"/>
              </a:rPr>
              <a:t>clinic.callsphere.site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50292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Calibri"/>
              </a:rPr>
              <a:t>Secure (HTTPS), seeded with your clinic's hours, providers,
accepted insurance, and 15 starter FAQs.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486400" cy="2011680"/>
          </a:xfrm>
          <a:prstGeom prst="roundRect">
            <a:avLst/>
          </a:prstGeom>
          <a:solidFill>
            <a:srgbClr val="E6F2F7"/>
          </a:solidFill>
          <a:ln w="9525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F8F8F"/>
                </a:solidFill>
                <a:latin typeface="Calibri"/>
              </a:rPr>
              <a:t>WHAT'S IN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331720"/>
            <a:ext cx="49377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F2A4A"/>
                </a:solidFill>
                <a:latin typeface="Calibri"/>
              </a:rPr>
              <a:t>•  3 family-medicine providers + 2 weeks of slots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660904"/>
            <a:ext cx="49377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F2A4A"/>
                </a:solidFill>
                <a:latin typeface="Calibri"/>
              </a:rPr>
              <a:t>•  Blue Cross Blue Shield PPO sample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990088"/>
            <a:ext cx="49377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F2A4A"/>
                </a:solidFill>
                <a:latin typeface="Calibri"/>
              </a:rPr>
              <a:t>•  15 clinic FAQs (hours, parking, telehealth, …)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319272"/>
            <a:ext cx="49377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F2A4A"/>
                </a:solidFill>
                <a:latin typeface="Calibri"/>
              </a:rPr>
              <a:t>•  Friendly tone, refuses medical advice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14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2A4A"/>
                </a:solidFill>
                <a:latin typeface="Calibri"/>
              </a:rPr>
              <a:t>What we can add next (when you're ready)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5147" y="4572000"/>
            <a:ext cx="26974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8027" y="4754880"/>
            <a:ext cx="411480" cy="411480"/>
          </a:xfrm>
          <a:prstGeom prst="ellipse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027" y="475488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0947" y="475488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F2A4A"/>
                </a:solidFill>
                <a:latin typeface="Calibri"/>
              </a:rPr>
              <a:t>More providers &amp; specialties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027" y="5349240"/>
            <a:ext cx="23317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</a:rPr>
              <a:t>Add new doctors or service lines — slots regenerate automatically.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9787" y="4572000"/>
            <a:ext cx="26974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12667" y="4754880"/>
            <a:ext cx="411480" cy="411480"/>
          </a:xfrm>
          <a:prstGeom prst="ellipse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12667" y="475488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15587" y="475488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F2A4A"/>
                </a:solidFill>
                <a:latin typeface="Calibri"/>
              </a:rPr>
              <a:t>More insurance plans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2667" y="5349240"/>
            <a:ext cx="23317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</a:rPr>
              <a:t>Expand the accepted-payer list as your network grows.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64427" y="4572000"/>
            <a:ext cx="26974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7307" y="4754880"/>
            <a:ext cx="411480" cy="411480"/>
          </a:xfrm>
          <a:prstGeom prst="ellipse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7307" y="475488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0227" y="475488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F2A4A"/>
                </a:solidFill>
                <a:latin typeface="Calibri"/>
              </a:rPr>
              <a:t>Email / SMS confirmations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7307" y="5349240"/>
            <a:ext cx="23317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</a:rPr>
              <a:t>Send a booking confirmation to the patient and the front desk.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99067" y="4572000"/>
            <a:ext cx="26974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81947" y="4754880"/>
            <a:ext cx="411480" cy="411480"/>
          </a:xfrm>
          <a:prstGeom prst="ellipse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1947" y="475488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84867" y="475488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F2A4A"/>
                </a:solidFill>
                <a:latin typeface="Calibri"/>
              </a:rPr>
              <a:t>Admin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1947" y="5349240"/>
            <a:ext cx="23317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</a:rPr>
              <a:t>A simple page for staff to view bookings and analytics.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16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1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E6F2F7"/>
                </a:solidFill>
                <a:latin typeface="Calibri"/>
              </a:rPr>
              <a:t>Try the live chatbot today — and tell us what you'd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640080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F8F8F"/>
                </a:solidFill>
                <a:latin typeface="Calibri"/>
              </a:rPr>
              <a:t>VISIT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5943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2A4A"/>
                </a:solidFill>
                <a:latin typeface="Calibri"/>
              </a:rPr>
              <a:t>clinic.callsphere.site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Calibri"/>
              </a:rPr>
              <a:t>Open it on any phone or laptop — no login needed.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