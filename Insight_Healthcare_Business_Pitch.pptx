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6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8F8F"/>
                </a:solidFill>
                <a:latin typeface="Calibri"/>
              </a:rPr>
              <a:t>INSIGHT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Fewer missed calls.
More booked visits.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An AI front-desk assistant that answers patient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and books appointments — 24 / 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LIVE at clinic.callsphere.site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2F7"/>
                </a:solidFill>
                <a:latin typeface="Calibri"/>
              </a:rPr>
              <a:t>Prepared for the Insight Healthcare team   •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A4A"/>
                </a:solidFill>
                <a:latin typeface="Calibri"/>
              </a:rPr>
              <a:t>Patients can't get help when they need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Calibri"/>
              </a:rPr>
              <a:t>Most patient questions arrive outside business hours — and the front desk can't be in two places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E6F2F7"/>
                </a:solidFill>
                <a:latin typeface="Calibri"/>
              </a:rPr>
              <a:t>Today, a clinic typically loses…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30% of inbound questions to voicemail, missed calls, and slow email replies.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F2A4A"/>
                </a:solidFill>
                <a:latin typeface="Calibri"/>
              </a:rPr>
              <a:t>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After-hours questions go unanswered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3063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Patients ask about hours, parking, insurance, or booking at 9 PM — and reach voicemail.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38328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118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F2A4A"/>
                </a:solidFill>
                <a:latin typeface="Calibri"/>
              </a:rPr>
              <a:t>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4340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Front desk is overloaded by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3063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Receptionists answer the same handful of questions all day instead of caring for in-person patients.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38328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6118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F2A4A"/>
                </a:solidFill>
                <a:latin typeface="Calibri"/>
              </a:rP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4340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Patients drop off before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892040"/>
            <a:ext cx="3063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If it isn't easy to book, patients try another clinic. Each missed booking is real lost revenue.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4A5A6A"/>
                </a:solidFill>
                <a:latin typeface="Calibri"/>
              </a:rPr>
              <a:t>Net effect: lower bookings, frustrated patients, and an overworked front desk.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A4A"/>
                </a:solidFill>
                <a:latin typeface="Calibri"/>
              </a:rPr>
              <a:t>An AI assistant on your clinic's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Calibri"/>
              </a:rPr>
              <a:t>Patients ask questions in plain English. The assistant answers — and books visits —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201168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488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A4A"/>
                </a:solidFill>
                <a:latin typeface="Calibri"/>
              </a:rPr>
              <a:t>Insight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8F8F"/>
                </a:solidFill>
                <a:latin typeface="Calibri"/>
              </a:rPr>
              <a:t>Online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788920"/>
            <a:ext cx="2926080" cy="640080"/>
          </a:xfrm>
          <a:prstGeom prst="roundRect">
            <a:avLst>
              <a:gd name="adj" fmla="val 6000"/>
            </a:avLst>
          </a:prstGeom>
          <a:solidFill>
            <a:srgbClr val="C7E9D9"/>
          </a:solidFill>
          <a:ln w="9525">
            <a:solidFill>
              <a:srgbClr val="C7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8346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2A4A"/>
                </a:solidFill>
                <a:latin typeface="Calibri"/>
              </a:rPr>
              <a:t>"Can I book a physical Thursday morning?"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611880"/>
            <a:ext cx="3108960" cy="100584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657600"/>
            <a:ext cx="2926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2A4A"/>
                </a:solidFill>
                <a:latin typeface="Calibri"/>
              </a:rPr>
              <a:t>Yes — Dr. Chen has 9:00 and 10:30 open Thursday. Want me to book one?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754880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C7E9D9"/>
          </a:solidFill>
          <a:ln w="9525">
            <a:solidFill>
              <a:srgbClr val="C7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773168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2A4A"/>
                </a:solidFill>
                <a:latin typeface="Calibri"/>
              </a:rPr>
              <a:t>"10:30 please."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5394960"/>
            <a:ext cx="3108960" cy="50292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5413248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F8F8F"/>
                </a:solidFill>
                <a:latin typeface="Calibri"/>
              </a:rPr>
              <a:t>Booked ✓  You'll get a confirmation email.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78308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2A4A"/>
                </a:solidFill>
                <a:latin typeface="Calibri"/>
              </a:rPr>
              <a:t>What patients can do, instantly:</a:t>
            </a:r>
          </a:p>
        </p:txBody>
      </p:sp>
      <p:sp>
        <p:nvSpPr>
          <p:cNvPr id="22" name="Oval 21"/>
          <p:cNvSpPr/>
          <p:nvPr/>
        </p:nvSpPr>
        <p:spPr>
          <a:xfrm>
            <a:off x="5989320" y="2377440"/>
            <a:ext cx="502920" cy="50292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2377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Book, reschedule, or cancel a visit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97480"/>
            <a:ext cx="5029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Sees real open slots from your schedule and confirms in seconds.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3611880"/>
            <a:ext cx="502920" cy="50292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36118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66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Check if you take their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931920"/>
            <a:ext cx="5029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Answers "Do you take BCBS PPO?" and looks up sample member coverage.</a:t>
            </a:r>
          </a:p>
        </p:txBody>
      </p:sp>
      <p:sp>
        <p:nvSpPr>
          <p:cNvPr id="30" name="Oval 29"/>
          <p:cNvSpPr/>
          <p:nvPr/>
        </p:nvSpPr>
        <p:spPr>
          <a:xfrm>
            <a:off x="5989320" y="4846320"/>
            <a:ext cx="502920" cy="50292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48463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800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Get clinic info anytime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66360"/>
            <a:ext cx="5029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Hours, location, parking, services, what to bring on the first visit.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263640"/>
            <a:ext cx="11201400" cy="41148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28192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Lives on your website — no app to download, no login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A4A"/>
                </a:solidFill>
                <a:latin typeface="Calibri"/>
              </a:rPr>
              <a:t>From patient question to confirmed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Calibri"/>
              </a:rPr>
              <a:t>Four steps. No phone calls, no waiting on hold, no human in the loop for routine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867" y="2103120"/>
            <a:ext cx="2468880" cy="237744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8027" y="2240280"/>
            <a:ext cx="365760" cy="36576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22402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2606040"/>
            <a:ext cx="24688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0F2A4A"/>
                </a:solidFill>
                <a:latin typeface="Calibri"/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2A4A"/>
                </a:solidFill>
                <a:latin typeface="Calibri"/>
              </a:rPr>
              <a:t>Patient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" y="37490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on your clinic
website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29747.5" y="3291840.0"/>
            <a:ext cx="371480.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21227" y="2103120"/>
            <a:ext cx="2468880" cy="2377440"/>
          </a:xfrm>
          <a:prstGeom prst="roundRect">
            <a:avLst>
              <a:gd name="adj" fmla="val 6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58387" y="2240280"/>
            <a:ext cx="365760" cy="36576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8387" y="22402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1227" y="2606040"/>
            <a:ext cx="24688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0F2A4A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1227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2A4A"/>
                </a:solidFill>
                <a:latin typeface="Calibri"/>
              </a:rPr>
              <a:t>Assistant understands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8387" y="37490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figures out what
they need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10107.5" y="3291840.0"/>
            <a:ext cx="371480.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01587" y="2103120"/>
            <a:ext cx="2468880" cy="237744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8747" y="2240280"/>
            <a:ext cx="365760" cy="36576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8747" y="22402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1587" y="2606040"/>
            <a:ext cx="24688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0F2A4A"/>
                </a:solidFill>
                <a:latin typeface="Calibri"/>
              </a:rP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2A4A"/>
                </a:solidFill>
                <a:latin typeface="Calibri"/>
              </a:rPr>
              <a:t>Finds the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747" y="37490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from your clinic's
schedule &amp; info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90467.5" y="3291840.0"/>
            <a:ext cx="371480.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81947" y="2103120"/>
            <a:ext cx="2468880" cy="2377440"/>
          </a:xfrm>
          <a:prstGeom prst="roundRect">
            <a:avLst>
              <a:gd name="adj" fmla="val 6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19107" y="2240280"/>
            <a:ext cx="365760" cy="36576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9107" y="22402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1947" y="2606040"/>
            <a:ext cx="24688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0F2A4A"/>
                </a:solidFill>
                <a:latin typeface="Calibri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1947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2A4A"/>
                </a:solidFill>
                <a:latin typeface="Calibri"/>
              </a:rPr>
              <a:t>Replies in seconds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9107" y="37490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or books the
appointment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02920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A"/>
                </a:solidFill>
                <a:latin typeface="Calibri"/>
              </a:rPr>
              <a:t>What makes it trustworthy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" y="5559552"/>
            <a:ext cx="128016" cy="128016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4864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Stays in its lane — only answers about appointments, insurance, and clinic info.</a:t>
            </a:r>
          </a:p>
        </p:txBody>
      </p:sp>
      <p:sp>
        <p:nvSpPr>
          <p:cNvPr id="40" name="Oval 39"/>
          <p:cNvSpPr/>
          <p:nvPr/>
        </p:nvSpPr>
        <p:spPr>
          <a:xfrm>
            <a:off x="777240" y="5852160"/>
            <a:ext cx="128016" cy="128016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779008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Politely refuses medical advice and anything off-topic.</a:t>
            </a:r>
          </a:p>
        </p:txBody>
      </p:sp>
      <p:sp>
        <p:nvSpPr>
          <p:cNvPr id="42" name="Oval 41"/>
          <p:cNvSpPr/>
          <p:nvPr/>
        </p:nvSpPr>
        <p:spPr>
          <a:xfrm>
            <a:off x="777240" y="6144768"/>
            <a:ext cx="128016" cy="128016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6071616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Never stores the words a patient types. Only "which topic" and how fast it answered.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THE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A4A"/>
                </a:solidFill>
                <a:latin typeface="Calibri"/>
              </a:rPr>
              <a:t>What this means for your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Calibri"/>
              </a:rPr>
              <a:t>Three concrete wins — for the clinic, the front desk, and the patient.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6C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64008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103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2880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0" i="0">
                <a:solidFill>
                  <a:srgbClr val="0F2A4A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2A4A"/>
                </a:solidFill>
                <a:latin typeface="Calibri"/>
              </a:rPr>
              <a:t>More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2880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Capture patients who land on the site after-hours instead of losing them to voicemail.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057400"/>
            <a:ext cx="109728" cy="640080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2103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560320"/>
            <a:ext cx="2880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0" i="0">
                <a:solidFill>
                  <a:srgbClr val="0F2A4A"/>
                </a:solidFill>
                <a:latin typeface="Calibri"/>
              </a:rPr>
              <a:t>🧑‍⚕️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52044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2A4A"/>
                </a:solidFill>
                <a:latin typeface="Calibri"/>
              </a:rPr>
              <a:t>Lighter front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069080"/>
            <a:ext cx="2880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Receptionists stop repeating the same answers all day and focus on in-person patients.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82880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7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2057400"/>
            <a:ext cx="109728" cy="640080"/>
          </a:xfrm>
          <a:prstGeom prst="rect">
            <a:avLst/>
          </a:prstGeom>
          <a:solidFill>
            <a:srgbClr val="E7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9640" y="2103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7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560320"/>
            <a:ext cx="2880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0" i="0">
                <a:solidFill>
                  <a:srgbClr val="0F2A4A"/>
                </a:solidFill>
                <a:latin typeface="Calibri"/>
              </a:rPr>
              <a:t>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520440"/>
            <a:ext cx="2880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2A4A"/>
                </a:solidFill>
                <a:latin typeface="Calibri"/>
              </a:rPr>
              <a:t>Happier 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069080"/>
            <a:ext cx="2880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Instant answers and same-tone replies, 24 / 7. No phone tree, no waiting.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715000"/>
            <a:ext cx="11201400" cy="64008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And nothing risky changes: no medical advice, no chat content stored, and a human can always take 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BEFORE &amp;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A4A"/>
                </a:solidFill>
                <a:latin typeface="Calibri"/>
              </a:rPr>
              <a:t>What changes once it's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Calibri"/>
              </a:rPr>
              <a:t>Same clinic. Same staff. A very different patient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2A4A"/>
                </a:solidFill>
                <a:latin typeface="Calibri"/>
              </a:rPr>
              <a:t>Phone-only front desk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Open only 9–5, Mon–Fri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118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Patients wait on hold or leave voicemail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Staff answer the same questions all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1772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After-hours bookings = lost bookings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2064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Manual scheduling in a paper / spreadsheet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97880" y="3657600"/>
            <a:ext cx="594360" cy="502920"/>
          </a:xfrm>
          <a:prstGeom prst="rightArrow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828800"/>
            <a:ext cx="53035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20116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14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2A4A"/>
                </a:solidFill>
                <a:latin typeface="Calibri"/>
              </a:rPr>
              <a:t>Phone + AI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1089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10896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Open 24 / 7 on your 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1188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6118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Patients get answers in seconds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11480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🧑‍⚕️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1148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Staff freed up for in-person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6177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After-hours visits get booked, not lost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1206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0F2A4A"/>
                </a:solidFill>
                <a:latin typeface="Calibri"/>
              </a:rPr>
              <a:t>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12064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Real, live schedule — no double-booking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4A5A6A"/>
                </a:solidFill>
                <a:latin typeface="Calibri"/>
              </a:rPr>
              <a:t>The front desk doesn't go away — it just stops being the only door.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A4A"/>
                </a:solidFill>
                <a:latin typeface="Calibri"/>
              </a:rPr>
              <a:t>Live today — and easy to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Calibri"/>
              </a:rPr>
              <a:t>Running at clinic.callsphere.site, seeded with your clinic's real info.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8F8F"/>
                </a:solidFill>
                <a:latin typeface="Calibri"/>
              </a:rPr>
              <a:t>●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F2A4A"/>
                </a:solidFill>
                <a:latin typeface="Calibri"/>
              </a:rPr>
              <a:t>clinic.callsphere.site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Secure (HTTPS), seeded with your clinic's hours, providers,
accepted insurance, and 15 starter FAQs.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6F2F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WHAT'S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31720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F2A4A"/>
                </a:solidFill>
                <a:latin typeface="Calibri"/>
              </a:rPr>
              <a:t>•  3 family-medicine providers + 2 weeks of slots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60904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F2A4A"/>
                </a:solidFill>
                <a:latin typeface="Calibri"/>
              </a:rPr>
              <a:t>•  Blue Cross Blue Shield PPO sample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90088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F2A4A"/>
                </a:solidFill>
                <a:latin typeface="Calibri"/>
              </a:rPr>
              <a:t>•  15 clinic FAQs (hours, parking, telehealth, 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319272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F2A4A"/>
                </a:solidFill>
                <a:latin typeface="Calibri"/>
              </a:rPr>
              <a:t>•  Friendly tone, refuses medical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F2A4A"/>
                </a:solidFill>
                <a:latin typeface="Calibri"/>
              </a:rPr>
              <a:t>When you're ready, we can add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147" y="45720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802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02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94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2A4A"/>
                </a:solidFill>
                <a:latin typeface="Calibri"/>
              </a:rPr>
              <a:t>More providers &amp; specialties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02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Add new doctors or service lines — slots regenerate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9787" y="45720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1266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266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558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2A4A"/>
                </a:solidFill>
                <a:latin typeface="Calibri"/>
              </a:rPr>
              <a:t>More insurance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266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Expand the accepted-payer list as your network grows.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4427" y="45720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730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730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022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2A4A"/>
                </a:solidFill>
                <a:latin typeface="Calibri"/>
              </a:rPr>
              <a:t>Email / SMS confirmations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Booking confirmations sent to the patient and the front desk.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9067" y="45720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8194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194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486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2A4A"/>
                </a:solidFill>
                <a:latin typeface="Calibri"/>
              </a:rPr>
              <a:t>Staff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194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Simple admin view for bookings, demand, and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6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Ready when you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E6F2F7"/>
                </a:solidFill>
                <a:latin typeface="Calibri"/>
              </a:rPr>
              <a:t>The chatbot is live. The next step is yours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E6F2F7"/>
                </a:solidFill>
                <a:latin typeface="Calibri"/>
              </a:rPr>
              <a:t>try it, tell us what to refine, and we'll iterate.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8F8F"/>
                </a:solidFill>
                <a:latin typeface="Calibri"/>
              </a:rPr>
              <a:t>TRY IT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5943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F2A4A"/>
                </a:solidFill>
                <a:latin typeface="Calibri"/>
              </a:rPr>
              <a:t>clinic.callsphere.site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Open it on any phone or laptop — no login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F2F7"/>
                </a:solidFill>
                <a:latin typeface="Calibri"/>
              </a:rPr>
              <a:t>Questions? sagar@callsphere.tech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